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232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well_lit_product_still_life_scene_on_a_ta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777240"/>
            <a:ext cx="5257800" cy="29535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58368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B88A44">
              <a:alpha val="92000"/>
            </a:srgbClr>
          </a:solidFill>
          <a:ln w="12700">
            <a:solidFill>
              <a:srgbClr val="B88A4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4088" y="713232"/>
            <a:ext cx="11064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BUSINESS DECK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21792" y="1353312"/>
            <a:ext cx="5257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1B1B"/>
                </a:solidFill>
              </a:rPr>
              <a:t>Malaysia Festive Gift Sales Pipeline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58368" y="2743200"/>
            <a:ext cx="46177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E6259"/>
                </a:solidFill>
              </a:rPr>
              <a:t>2026 campaign calendar, product structures, order pipeline, delivery windows and selling recommendations for festival gift boxes and hampers.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37960" y="4160520"/>
            <a:ext cx="48006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88A44"/>
                </a:solidFill>
              </a:rPr>
              <a:t>Comprehensive selling plan for seasonal hampers, gift boxes and corporate orders.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Executive 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A simple seasonal gift business can be run using repeatable campaigns and modular inventory.</a:t>
            </a:r>
            <a:endParaRPr lang="en-US" sz="950" dirty="0"/>
          </a:p>
        </p:txBody>
      </p:sp>
      <p:pic>
        <p:nvPicPr>
          <p:cNvPr id="4" name="Image 0" descr="/mnt/data/a_clean_flat_lay_tabletop_scene_photographed_from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170432"/>
            <a:ext cx="3383280" cy="1901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3258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0664" y="1490472"/>
            <a:ext cx="347472" cy="347472"/>
          </a:xfrm>
          <a:prstGeom prst="ellipse">
            <a:avLst/>
          </a:prstGeom>
          <a:solidFill>
            <a:srgbClr val="B5453C"/>
          </a:solidFill>
          <a:ln w="12700">
            <a:solidFill>
              <a:srgbClr val="B5453C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156362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88720" y="1472184"/>
            <a:ext cx="2679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Focus on 5 core seasons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97864" y="1764792"/>
            <a:ext cx="267919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Chinese New Year, Hari Raya Aidilfitri, Christmas / Year-End, Deepavali and Mid-Autumn provide the strongest recurring gift demand.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4160520" y="132588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06824" y="1490472"/>
            <a:ext cx="347472" cy="347472"/>
          </a:xfrm>
          <a:prstGeom prst="ellipse">
            <a:avLst/>
          </a:prstGeom>
          <a:solidFill>
            <a:srgbClr val="B88A44"/>
          </a:solidFill>
          <a:ln w="12700">
            <a:solidFill>
              <a:srgbClr val="B88A4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25696" y="156362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754880" y="1472184"/>
            <a:ext cx="2679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Use 3-tier pricing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4024" y="1764792"/>
            <a:ext cx="267919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Basic, Standard and Premium collections make ordering easy for personal and corporate buyers.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594360" y="27889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0664" y="2953512"/>
            <a:ext cx="347472" cy="347472"/>
          </a:xfrm>
          <a:prstGeom prst="ellipse">
            <a:avLst/>
          </a:prstGeom>
          <a:solidFill>
            <a:srgbClr val="496E5B"/>
          </a:solidFill>
          <a:ln w="12700">
            <a:solidFill>
              <a:srgbClr val="496E5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" y="302666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88720" y="2935224"/>
            <a:ext cx="2679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Open pre-orders early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97864" y="3227832"/>
            <a:ext cx="267919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Launch 4–6 weeks before each major festival; close custom orders 7–10 days before delivery peak.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4160520" y="27889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06824" y="2953512"/>
            <a:ext cx="347472" cy="347472"/>
          </a:xfrm>
          <a:prstGeom prst="ellipse">
            <a:avLst/>
          </a:prstGeom>
          <a:solidFill>
            <a:srgbClr val="325F75"/>
          </a:solidFill>
          <a:ln w="12700">
            <a:solidFill>
              <a:srgbClr val="325F75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5696" y="302666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54880" y="2935224"/>
            <a:ext cx="2679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Standardise operations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764024" y="3227832"/>
            <a:ext cx="267919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Keep reusable base items such as cookies, tea, coffee, nuts, chocolates, boxes, ribbons and greeting cards.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8001000" y="32461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2F2B27"/>
          </a:solidFill>
          <a:ln w="12700">
            <a:solidFill>
              <a:srgbClr val="2F2B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275320" y="3493008"/>
            <a:ext cx="310896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8A44"/>
                </a:solidFill>
              </a:rPr>
              <a:t>Business principle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275320" y="3886200"/>
            <a:ext cx="2926080" cy="6949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</a:rPr>
              <a:t>One base hamper structure. Change the packaging colour, festive card and 1–2 seasonal hero items for each campaign.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2026 Malaysia Festival Gift Demand Calendar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Campaign dates shown as practical selling windows; some Islamic dates may move by one day.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680960" y="850392"/>
            <a:ext cx="128016" cy="128016"/>
          </a:xfrm>
          <a:prstGeom prst="rect">
            <a:avLst/>
          </a:prstGeom>
          <a:solidFill>
            <a:srgbClr val="B5453C"/>
          </a:solidFill>
          <a:ln w="12700">
            <a:solidFill>
              <a:srgbClr val="B545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841248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E6259"/>
                </a:solidFill>
              </a:rPr>
              <a:t>Very High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668512" y="850392"/>
            <a:ext cx="128016" cy="128016"/>
          </a:xfrm>
          <a:prstGeom prst="rect">
            <a:avLst/>
          </a:prstGeom>
          <a:solidFill>
            <a:srgbClr val="B88A44"/>
          </a:solidFill>
          <a:ln w="12700">
            <a:solidFill>
              <a:srgbClr val="B88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51392" y="841248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E6259"/>
                </a:solidFill>
              </a:rPr>
              <a:t>High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656064" y="850392"/>
            <a:ext cx="128016" cy="128016"/>
          </a:xfrm>
          <a:prstGeom prst="rect">
            <a:avLst/>
          </a:prstGeom>
          <a:solidFill>
            <a:srgbClr val="496E5B"/>
          </a:solidFill>
          <a:ln w="12700">
            <a:solidFill>
              <a:srgbClr val="496E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38944" y="841248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E6259"/>
                </a:solidFill>
              </a:rPr>
              <a:t>Medium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643616" y="850392"/>
            <a:ext cx="128016" cy="128016"/>
          </a:xfrm>
          <a:prstGeom prst="rect">
            <a:avLst/>
          </a:prstGeom>
          <a:solidFill>
            <a:srgbClr val="325F75"/>
          </a:solidFill>
          <a:ln w="12700">
            <a:solidFill>
              <a:srgbClr val="325F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26496" y="841248"/>
            <a:ext cx="7315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E6259"/>
                </a:solidFill>
              </a:rPr>
              <a:t>Low–Med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66928" y="1207008"/>
            <a:ext cx="2926080" cy="320040"/>
          </a:xfrm>
          <a:prstGeom prst="rect">
            <a:avLst/>
          </a:prstGeom>
          <a:solidFill>
            <a:srgbClr val="496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289304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FFFFF"/>
                </a:solidFill>
              </a:rPr>
              <a:t>Festival / Season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3493008" y="1207008"/>
            <a:ext cx="1353312" cy="320040"/>
          </a:xfrm>
          <a:prstGeom prst="rect">
            <a:avLst/>
          </a:prstGeom>
          <a:solidFill>
            <a:srgbClr val="496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9584" y="1289304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FFFFF"/>
                </a:solidFill>
              </a:rPr>
              <a:t>Key date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4846320" y="1207008"/>
            <a:ext cx="1280160" cy="320040"/>
          </a:xfrm>
          <a:prstGeom prst="rect">
            <a:avLst/>
          </a:prstGeom>
          <a:solidFill>
            <a:srgbClr val="496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1289304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Demand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6126480" y="1207008"/>
            <a:ext cx="1508760" cy="320040"/>
          </a:xfrm>
          <a:prstGeom prst="rect">
            <a:avLst/>
          </a:prstGeom>
          <a:solidFill>
            <a:srgbClr val="496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1289304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Open orders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7635240" y="1207008"/>
            <a:ext cx="1600200" cy="320040"/>
          </a:xfrm>
          <a:prstGeom prst="rect">
            <a:avLst/>
          </a:prstGeom>
          <a:solidFill>
            <a:srgbClr val="496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1289304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Delivery peak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566928" y="1527048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1600200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Chinese New Year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3493008" y="1527048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9584" y="1600200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17–18 Feb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4846320" y="1527048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1600200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Very High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6126480" y="1527048"/>
            <a:ext cx="1508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3056" y="1600200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5 Jan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7635240" y="1527048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71816" y="1600200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1–16 Feb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66928" y="1856232"/>
            <a:ext cx="292608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" y="1929384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Valentine’s Day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3493008" y="1856232"/>
            <a:ext cx="1353312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1929384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14 Feb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4846320" y="1856232"/>
            <a:ext cx="12801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1929384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High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6126480" y="1856232"/>
            <a:ext cx="15087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1929384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20 Jan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7635240" y="1856232"/>
            <a:ext cx="160020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71816" y="1929384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12–14 Feb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566928" y="2185416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" y="2258568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Hari Raya Aidilfitri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3493008" y="2185416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9584" y="2258568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21–22 Mar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4846320" y="2185416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82896" y="2258568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Very High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6126480" y="2185416"/>
            <a:ext cx="1508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63056" y="2258568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9 Feb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7635240" y="2185416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1816" y="2258568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10–20 Mar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566928" y="2514600"/>
            <a:ext cx="292608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" y="2587752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Mother’s Day</a:t>
            </a:r>
            <a:endParaRPr lang="en-US" sz="680" dirty="0"/>
          </a:p>
        </p:txBody>
      </p:sp>
      <p:sp>
        <p:nvSpPr>
          <p:cNvPr id="54" name="Shape 52"/>
          <p:cNvSpPr/>
          <p:nvPr/>
        </p:nvSpPr>
        <p:spPr>
          <a:xfrm>
            <a:off x="3493008" y="2514600"/>
            <a:ext cx="1353312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9584" y="2587752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10 May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4846320" y="2514600"/>
            <a:ext cx="12801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82896" y="2587752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High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6126480" y="2514600"/>
            <a:ext cx="15087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63056" y="2587752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13 Apr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7635240" y="2514600"/>
            <a:ext cx="160020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71816" y="2587752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7–10 May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566928" y="2843784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3504" y="2916936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Hari Raya Haji</a:t>
            </a:r>
            <a:endParaRPr lang="en-US" sz="680" dirty="0"/>
          </a:p>
        </p:txBody>
      </p:sp>
      <p:sp>
        <p:nvSpPr>
          <p:cNvPr id="64" name="Shape 62"/>
          <p:cNvSpPr/>
          <p:nvPr/>
        </p:nvSpPr>
        <p:spPr>
          <a:xfrm>
            <a:off x="3493008" y="2843784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29584" y="2916936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27 May</a:t>
            </a:r>
            <a:endParaRPr lang="en-US" sz="680" dirty="0"/>
          </a:p>
        </p:txBody>
      </p:sp>
      <p:sp>
        <p:nvSpPr>
          <p:cNvPr id="66" name="Shape 64"/>
          <p:cNvSpPr/>
          <p:nvPr/>
        </p:nvSpPr>
        <p:spPr>
          <a:xfrm>
            <a:off x="4846320" y="2843784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82896" y="2916936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Medium</a:t>
            </a:r>
            <a:endParaRPr lang="en-US" sz="680" dirty="0"/>
          </a:p>
        </p:txBody>
      </p:sp>
      <p:sp>
        <p:nvSpPr>
          <p:cNvPr id="68" name="Shape 66"/>
          <p:cNvSpPr/>
          <p:nvPr/>
        </p:nvSpPr>
        <p:spPr>
          <a:xfrm>
            <a:off x="6126480" y="2843784"/>
            <a:ext cx="1508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163056" y="2916936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27 Apr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7635240" y="2843784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71816" y="2916936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22–27 May</a:t>
            </a:r>
            <a:endParaRPr lang="en-US" sz="680" dirty="0"/>
          </a:p>
        </p:txBody>
      </p:sp>
      <p:sp>
        <p:nvSpPr>
          <p:cNvPr id="72" name="Shape 70"/>
          <p:cNvSpPr/>
          <p:nvPr/>
        </p:nvSpPr>
        <p:spPr>
          <a:xfrm>
            <a:off x="566928" y="3172968"/>
            <a:ext cx="292608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3504" y="3246120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Wesak Day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3493008" y="3172968"/>
            <a:ext cx="1353312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29584" y="3246120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31 May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4846320" y="3172968"/>
            <a:ext cx="12801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82896" y="3246120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Low–Med</a:t>
            </a:r>
            <a:endParaRPr lang="en-US" sz="680" dirty="0"/>
          </a:p>
        </p:txBody>
      </p:sp>
      <p:sp>
        <p:nvSpPr>
          <p:cNvPr id="78" name="Shape 76"/>
          <p:cNvSpPr/>
          <p:nvPr/>
        </p:nvSpPr>
        <p:spPr>
          <a:xfrm>
            <a:off x="6126480" y="3172968"/>
            <a:ext cx="15087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63056" y="3246120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4 May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7635240" y="3172968"/>
            <a:ext cx="160020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71816" y="3246120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27–31 May</a:t>
            </a:r>
            <a:endParaRPr lang="en-US" sz="680" dirty="0"/>
          </a:p>
        </p:txBody>
      </p:sp>
      <p:sp>
        <p:nvSpPr>
          <p:cNvPr id="82" name="Shape 80"/>
          <p:cNvSpPr/>
          <p:nvPr/>
        </p:nvSpPr>
        <p:spPr>
          <a:xfrm>
            <a:off x="566928" y="3502152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3504" y="3575304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Father’s Day</a:t>
            </a:r>
            <a:endParaRPr lang="en-US" sz="680" dirty="0"/>
          </a:p>
        </p:txBody>
      </p:sp>
      <p:sp>
        <p:nvSpPr>
          <p:cNvPr id="84" name="Shape 82"/>
          <p:cNvSpPr/>
          <p:nvPr/>
        </p:nvSpPr>
        <p:spPr>
          <a:xfrm>
            <a:off x="3493008" y="3502152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529584" y="3575304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21 Jun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4846320" y="3502152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82896" y="3575304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Medium</a:t>
            </a:r>
            <a:endParaRPr lang="en-US" sz="680" dirty="0"/>
          </a:p>
        </p:txBody>
      </p:sp>
      <p:sp>
        <p:nvSpPr>
          <p:cNvPr id="88" name="Shape 86"/>
          <p:cNvSpPr/>
          <p:nvPr/>
        </p:nvSpPr>
        <p:spPr>
          <a:xfrm>
            <a:off x="6126480" y="3502152"/>
            <a:ext cx="1508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63056" y="3575304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25 May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7635240" y="3502152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71816" y="3575304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18–21 Jun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566928" y="3831336"/>
            <a:ext cx="292608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03504" y="3904488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Merdeka Day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493008" y="3831336"/>
            <a:ext cx="1353312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529584" y="3904488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31 Aug</a:t>
            </a:r>
            <a:endParaRPr lang="en-US" sz="680" dirty="0"/>
          </a:p>
        </p:txBody>
      </p:sp>
      <p:sp>
        <p:nvSpPr>
          <p:cNvPr id="96" name="Shape 94"/>
          <p:cNvSpPr/>
          <p:nvPr/>
        </p:nvSpPr>
        <p:spPr>
          <a:xfrm>
            <a:off x="4846320" y="3831336"/>
            <a:ext cx="12801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882896" y="3904488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Medium</a:t>
            </a:r>
            <a:endParaRPr lang="en-US" sz="680" dirty="0"/>
          </a:p>
        </p:txBody>
      </p:sp>
      <p:sp>
        <p:nvSpPr>
          <p:cNvPr id="98" name="Shape 96"/>
          <p:cNvSpPr/>
          <p:nvPr/>
        </p:nvSpPr>
        <p:spPr>
          <a:xfrm>
            <a:off x="6126480" y="3831336"/>
            <a:ext cx="15087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63056" y="3904488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3 Aug</a:t>
            </a:r>
            <a:endParaRPr lang="en-US" sz="680" dirty="0"/>
          </a:p>
        </p:txBody>
      </p:sp>
      <p:sp>
        <p:nvSpPr>
          <p:cNvPr id="100" name="Shape 98"/>
          <p:cNvSpPr/>
          <p:nvPr/>
        </p:nvSpPr>
        <p:spPr>
          <a:xfrm>
            <a:off x="7635240" y="3831336"/>
            <a:ext cx="160020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671816" y="3904488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24–31 Aug</a:t>
            </a:r>
            <a:endParaRPr lang="en-US" sz="680" dirty="0"/>
          </a:p>
        </p:txBody>
      </p:sp>
      <p:sp>
        <p:nvSpPr>
          <p:cNvPr id="102" name="Shape 100"/>
          <p:cNvSpPr/>
          <p:nvPr/>
        </p:nvSpPr>
        <p:spPr>
          <a:xfrm>
            <a:off x="566928" y="4160520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03504" y="4233672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Malaysia Day</a:t>
            </a:r>
            <a:endParaRPr lang="en-US" sz="680" dirty="0"/>
          </a:p>
        </p:txBody>
      </p:sp>
      <p:sp>
        <p:nvSpPr>
          <p:cNvPr id="104" name="Shape 102"/>
          <p:cNvSpPr/>
          <p:nvPr/>
        </p:nvSpPr>
        <p:spPr>
          <a:xfrm>
            <a:off x="3493008" y="4160520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529584" y="4233672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16 Sep</a:t>
            </a:r>
            <a:endParaRPr lang="en-US" sz="680" dirty="0"/>
          </a:p>
        </p:txBody>
      </p:sp>
      <p:sp>
        <p:nvSpPr>
          <p:cNvPr id="106" name="Shape 104"/>
          <p:cNvSpPr/>
          <p:nvPr/>
        </p:nvSpPr>
        <p:spPr>
          <a:xfrm>
            <a:off x="4846320" y="4160520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82896" y="4233672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Medium</a:t>
            </a:r>
            <a:endParaRPr lang="en-US" sz="680" dirty="0"/>
          </a:p>
        </p:txBody>
      </p:sp>
      <p:sp>
        <p:nvSpPr>
          <p:cNvPr id="108" name="Shape 106"/>
          <p:cNvSpPr/>
          <p:nvPr/>
        </p:nvSpPr>
        <p:spPr>
          <a:xfrm>
            <a:off x="6126480" y="4160520"/>
            <a:ext cx="1508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63056" y="4233672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17 Aug</a:t>
            </a:r>
            <a:endParaRPr lang="en-US" sz="680" dirty="0"/>
          </a:p>
        </p:txBody>
      </p:sp>
      <p:sp>
        <p:nvSpPr>
          <p:cNvPr id="110" name="Shape 108"/>
          <p:cNvSpPr/>
          <p:nvPr/>
        </p:nvSpPr>
        <p:spPr>
          <a:xfrm>
            <a:off x="7635240" y="4160520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671816" y="4233672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9–16 Sep</a:t>
            </a:r>
            <a:endParaRPr lang="en-US" sz="680" dirty="0"/>
          </a:p>
        </p:txBody>
      </p:sp>
      <p:sp>
        <p:nvSpPr>
          <p:cNvPr id="112" name="Shape 110"/>
          <p:cNvSpPr/>
          <p:nvPr/>
        </p:nvSpPr>
        <p:spPr>
          <a:xfrm>
            <a:off x="566928" y="4489704"/>
            <a:ext cx="292608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03504" y="4562856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Mid-Autumn</a:t>
            </a:r>
            <a:endParaRPr lang="en-US" sz="680" dirty="0"/>
          </a:p>
        </p:txBody>
      </p:sp>
      <p:sp>
        <p:nvSpPr>
          <p:cNvPr id="114" name="Shape 112"/>
          <p:cNvSpPr/>
          <p:nvPr/>
        </p:nvSpPr>
        <p:spPr>
          <a:xfrm>
            <a:off x="3493008" y="4489704"/>
            <a:ext cx="1353312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529584" y="4562856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25 Sep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4846320" y="4489704"/>
            <a:ext cx="12801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882896" y="4562856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High</a:t>
            </a:r>
            <a:endParaRPr lang="en-US" sz="680" dirty="0"/>
          </a:p>
        </p:txBody>
      </p:sp>
      <p:sp>
        <p:nvSpPr>
          <p:cNvPr id="118" name="Shape 116"/>
          <p:cNvSpPr/>
          <p:nvPr/>
        </p:nvSpPr>
        <p:spPr>
          <a:xfrm>
            <a:off x="6126480" y="4489704"/>
            <a:ext cx="15087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163056" y="4562856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24 Aug</a:t>
            </a:r>
            <a:endParaRPr lang="en-US" sz="680" dirty="0"/>
          </a:p>
        </p:txBody>
      </p:sp>
      <p:sp>
        <p:nvSpPr>
          <p:cNvPr id="120" name="Shape 118"/>
          <p:cNvSpPr/>
          <p:nvPr/>
        </p:nvSpPr>
        <p:spPr>
          <a:xfrm>
            <a:off x="7635240" y="4489704"/>
            <a:ext cx="160020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671816" y="4562856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18–25 Sep</a:t>
            </a:r>
            <a:endParaRPr lang="en-US" sz="680" dirty="0"/>
          </a:p>
        </p:txBody>
      </p:sp>
      <p:sp>
        <p:nvSpPr>
          <p:cNvPr id="122" name="Shape 120"/>
          <p:cNvSpPr/>
          <p:nvPr/>
        </p:nvSpPr>
        <p:spPr>
          <a:xfrm>
            <a:off x="566928" y="4818888"/>
            <a:ext cx="29260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03504" y="4892040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Deepavali</a:t>
            </a:r>
            <a:endParaRPr lang="en-US" sz="680" dirty="0"/>
          </a:p>
        </p:txBody>
      </p:sp>
      <p:sp>
        <p:nvSpPr>
          <p:cNvPr id="124" name="Shape 122"/>
          <p:cNvSpPr/>
          <p:nvPr/>
        </p:nvSpPr>
        <p:spPr>
          <a:xfrm>
            <a:off x="3493008" y="4818888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3529584" y="4892040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8 Nov</a:t>
            </a:r>
            <a:endParaRPr lang="en-US" sz="680" dirty="0"/>
          </a:p>
        </p:txBody>
      </p:sp>
      <p:sp>
        <p:nvSpPr>
          <p:cNvPr id="126" name="Shape 124"/>
          <p:cNvSpPr/>
          <p:nvPr/>
        </p:nvSpPr>
        <p:spPr>
          <a:xfrm>
            <a:off x="4846320" y="4818888"/>
            <a:ext cx="12801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4882896" y="4892040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High</a:t>
            </a:r>
            <a:endParaRPr lang="en-US" sz="680" dirty="0"/>
          </a:p>
        </p:txBody>
      </p:sp>
      <p:sp>
        <p:nvSpPr>
          <p:cNvPr id="128" name="Shape 126"/>
          <p:cNvSpPr/>
          <p:nvPr/>
        </p:nvSpPr>
        <p:spPr>
          <a:xfrm>
            <a:off x="6126480" y="4818888"/>
            <a:ext cx="15087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163056" y="4892040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5 Oct</a:t>
            </a:r>
            <a:endParaRPr lang="en-US" sz="680" dirty="0"/>
          </a:p>
        </p:txBody>
      </p:sp>
      <p:sp>
        <p:nvSpPr>
          <p:cNvPr id="130" name="Shape 128"/>
          <p:cNvSpPr/>
          <p:nvPr/>
        </p:nvSpPr>
        <p:spPr>
          <a:xfrm>
            <a:off x="7635240" y="4818888"/>
            <a:ext cx="16002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671816" y="4892040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1–8 Nov</a:t>
            </a:r>
            <a:endParaRPr lang="en-US" sz="680" dirty="0"/>
          </a:p>
        </p:txBody>
      </p:sp>
      <p:sp>
        <p:nvSpPr>
          <p:cNvPr id="132" name="Shape 130"/>
          <p:cNvSpPr/>
          <p:nvPr/>
        </p:nvSpPr>
        <p:spPr>
          <a:xfrm>
            <a:off x="566928" y="5148072"/>
            <a:ext cx="292608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03504" y="5221224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Christmas / Year-end</a:t>
            </a:r>
            <a:endParaRPr lang="en-US" sz="680" dirty="0"/>
          </a:p>
        </p:txBody>
      </p:sp>
      <p:sp>
        <p:nvSpPr>
          <p:cNvPr id="134" name="Shape 132"/>
          <p:cNvSpPr/>
          <p:nvPr/>
        </p:nvSpPr>
        <p:spPr>
          <a:xfrm>
            <a:off x="3493008" y="5148072"/>
            <a:ext cx="1353312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529584" y="5221224"/>
            <a:ext cx="12801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25–31 Dec</a:t>
            </a:r>
            <a:endParaRPr lang="en-US" sz="680" dirty="0"/>
          </a:p>
        </p:txBody>
      </p:sp>
      <p:sp>
        <p:nvSpPr>
          <p:cNvPr id="136" name="Shape 134"/>
          <p:cNvSpPr/>
          <p:nvPr/>
        </p:nvSpPr>
        <p:spPr>
          <a:xfrm>
            <a:off x="4846320" y="5148072"/>
            <a:ext cx="12801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882896" y="5221224"/>
            <a:ext cx="1207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Very High</a:t>
            </a:r>
            <a:endParaRPr lang="en-US" sz="680" dirty="0"/>
          </a:p>
        </p:txBody>
      </p:sp>
      <p:sp>
        <p:nvSpPr>
          <p:cNvPr id="138" name="Shape 136"/>
          <p:cNvSpPr/>
          <p:nvPr/>
        </p:nvSpPr>
        <p:spPr>
          <a:xfrm>
            <a:off x="6126480" y="5148072"/>
            <a:ext cx="150876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163056" y="5221224"/>
            <a:ext cx="14356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16 Nov</a:t>
            </a:r>
            <a:endParaRPr lang="en-US" sz="680" dirty="0"/>
          </a:p>
        </p:txBody>
      </p:sp>
      <p:sp>
        <p:nvSpPr>
          <p:cNvPr id="140" name="Shape 138"/>
          <p:cNvSpPr/>
          <p:nvPr/>
        </p:nvSpPr>
        <p:spPr>
          <a:xfrm>
            <a:off x="7635240" y="5148072"/>
            <a:ext cx="1600200" cy="329184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7671816" y="5221224"/>
            <a:ext cx="15270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10–24 Dec</a:t>
            </a:r>
            <a:endParaRPr lang="en-US" sz="680" dirty="0"/>
          </a:p>
        </p:txBody>
      </p:sp>
      <p:sp>
        <p:nvSpPr>
          <p:cNvPr id="142" name="Text 140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143" name="Text 141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Master Campaign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Run every festival with the same sequence; only change lead time based on demand and shelf life.</a:t>
            </a:r>
            <a:endParaRPr lang="en-US" sz="950" dirty="0"/>
          </a:p>
        </p:txBody>
      </p:sp>
      <p:pic>
        <p:nvPicPr>
          <p:cNvPr id="4" name="Image 0" descr="/mnt/data/a_bright_cozy_indoor_workspace_packing_scene_over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828800"/>
            <a:ext cx="4160520" cy="23408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2344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" y="1399032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8A44"/>
                </a:solidFill>
              </a:rPr>
              <a:t>10–8 weeks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" y="1709928"/>
            <a:ext cx="26060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E6259"/>
                </a:solidFill>
              </a:rPr>
              <a:t>Plan products, suppliers, cost and packaging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3886200" y="12344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32504" y="1399032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8A44"/>
                </a:solidFill>
              </a:rPr>
              <a:t>7–6 weeks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032504" y="1709928"/>
            <a:ext cx="26060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E6259"/>
                </a:solidFill>
              </a:rPr>
              <a:t>Prepare samples, photos and product catalogue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640080" y="265176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" y="2816352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8A44"/>
                </a:solidFill>
              </a:rPr>
              <a:t>5–4 weeks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86384" y="3127248"/>
            <a:ext cx="26060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E6259"/>
                </a:solidFill>
              </a:rPr>
              <a:t>Launch marketing and open pre-orders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3886200" y="265176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32504" y="2816352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8A44"/>
                </a:solidFill>
              </a:rPr>
              <a:t>3–2 weeks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032504" y="3127248"/>
            <a:ext cx="26060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E6259"/>
                </a:solidFill>
              </a:rPr>
              <a:t>Push main orders, corporate quotes and deposits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640080" y="406908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" y="4233672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8A44"/>
                </a:solidFill>
              </a:rPr>
              <a:t>10–7 days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86384" y="4544568"/>
            <a:ext cx="26060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E6259"/>
                </a:solidFill>
              </a:rPr>
              <a:t>Close custom orders; keep ready-stock only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3886200" y="406908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32504" y="4233672"/>
            <a:ext cx="9601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88A44"/>
                </a:solidFill>
              </a:rPr>
              <a:t>14–1 days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032504" y="4544568"/>
            <a:ext cx="26060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E6259"/>
                </a:solidFill>
              </a:rPr>
              <a:t>Pack, label, route and deliver orders</a:t>
            </a:r>
            <a:endParaRPr lang="en-US" sz="870" dirty="0"/>
          </a:p>
        </p:txBody>
      </p:sp>
      <p:sp>
        <p:nvSpPr>
          <p:cNvPr id="23" name="Text 20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Recommended Product Structure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Offer three clear buying levels and an add-on layer for margin.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4290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0876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496E5B">
              <a:alpha val="92000"/>
            </a:srgbClr>
          </a:solidFill>
          <a:ln w="12700">
            <a:solidFill>
              <a:srgbClr val="496E5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563624"/>
            <a:ext cx="1380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Basic Gift Set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14400" y="1993392"/>
            <a:ext cx="2286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96E5B"/>
                </a:solidFill>
              </a:rPr>
              <a:t>RM39–RM79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32688" y="2697480"/>
            <a:ext cx="2834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B1B"/>
                </a:solidFill>
              </a:rPr>
              <a:t>Friends, teachers, neighbours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E6259"/>
                </a:solidFill>
              </a:rPr>
              <a:t>2–4 items; paper box or gift bag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4453128" y="1234440"/>
            <a:ext cx="34290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50876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B88A44">
              <a:alpha val="92000"/>
            </a:srgbClr>
          </a:solidFill>
          <a:ln w="12700">
            <a:solidFill>
              <a:srgbClr val="B88A4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563624"/>
            <a:ext cx="1380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Standard Gift Box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09160" y="1993392"/>
            <a:ext cx="2286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8A44"/>
                </a:solidFill>
              </a:rPr>
              <a:t>RM88–RM168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27448" y="2697480"/>
            <a:ext cx="2834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B1B"/>
                </a:solidFill>
              </a:rPr>
              <a:t>Family, colleagues, regular customers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27448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E6259"/>
                </a:solidFill>
              </a:rPr>
              <a:t>4–7 items; premium box + card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247888" y="1234440"/>
            <a:ext cx="34290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50876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B5453C">
              <a:alpha val="92000"/>
            </a:srgbClr>
          </a:solidFill>
          <a:ln w="12700">
            <a:solidFill>
              <a:srgbClr val="B5453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67928" y="1563624"/>
            <a:ext cx="1380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Premium Hamper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503920" y="1993392"/>
            <a:ext cx="22860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5453C"/>
                </a:solidFill>
              </a:rPr>
              <a:t>RM188–RM388+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522208" y="2697480"/>
            <a:ext cx="2834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B1B1B"/>
                </a:solidFill>
              </a:rPr>
              <a:t>Companies, bosses, clients, VIPs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22208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E6259"/>
                </a:solidFill>
              </a:rPr>
              <a:t>7–12 items; ribbon, card, logo sticker, delivery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1005840" y="4800600"/>
            <a:ext cx="10149840" cy="841248"/>
          </a:xfrm>
          <a:prstGeom prst="roundRect">
            <a:avLst>
              <a:gd name="adj" fmla="val 8696"/>
            </a:avLst>
          </a:prstGeom>
          <a:solidFill>
            <a:srgbClr val="2F2B27"/>
          </a:solidFill>
          <a:ln w="12700">
            <a:solidFill>
              <a:srgbClr val="2F2B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0160" y="5102352"/>
            <a:ext cx="95554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High-margin add-ons: customised greeting card, logo sticker, delivery surcharge, premium gift box, express packing, multiple-address delivery.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Modular Hamper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Build one repeatable base, then swap seasonal hero items and packaging.</a:t>
            </a:r>
            <a:endParaRPr lang="en-US" sz="950" dirty="0"/>
          </a:p>
        </p:txBody>
      </p:sp>
      <p:pic>
        <p:nvPicPr>
          <p:cNvPr id="4" name="Image 0" descr="/mnt/data/a_clean_flat_lay_tabletop_scene_photographed_from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99616"/>
            <a:ext cx="3383280" cy="1901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43400" y="123444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489704" y="1399032"/>
            <a:ext cx="347472" cy="347472"/>
          </a:xfrm>
          <a:prstGeom prst="ellipse">
            <a:avLst/>
          </a:prstGeom>
          <a:solidFill>
            <a:srgbClr val="496E5B"/>
          </a:solidFill>
          <a:ln w="12700">
            <a:solidFill>
              <a:srgbClr val="496E5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608576" y="147218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37760" y="1380744"/>
            <a:ext cx="24048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Base box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46904" y="1673352"/>
            <a:ext cx="240487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Reusable boxes, ribbons, cards, stickers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7909560" y="123444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55864" y="1399032"/>
            <a:ext cx="347472" cy="347472"/>
          </a:xfrm>
          <a:prstGeom prst="ellipse">
            <a:avLst/>
          </a:prstGeom>
          <a:solidFill>
            <a:srgbClr val="B88A44"/>
          </a:solidFill>
          <a:ln w="12700">
            <a:solidFill>
              <a:srgbClr val="B88A4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74736" y="147218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503920" y="1380744"/>
            <a:ext cx="24048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Core foods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13064" y="1673352"/>
            <a:ext cx="240487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Cookies, nuts, dried fruits, chocolates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4343400" y="260604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9704" y="2770632"/>
            <a:ext cx="347472" cy="347472"/>
          </a:xfrm>
          <a:prstGeom prst="ellipse">
            <a:avLst/>
          </a:prstGeom>
          <a:solidFill>
            <a:srgbClr val="B5453C"/>
          </a:solidFill>
          <a:ln w="12700">
            <a:solidFill>
              <a:srgbClr val="B5453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08576" y="284378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37760" y="2752344"/>
            <a:ext cx="24048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Premium item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46904" y="3044952"/>
            <a:ext cx="240487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Tea, coffee, honey, bird’s nest, mooncakes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7909560" y="260604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55864" y="2770632"/>
            <a:ext cx="347472" cy="347472"/>
          </a:xfrm>
          <a:prstGeom prst="ellipse">
            <a:avLst/>
          </a:prstGeom>
          <a:solidFill>
            <a:srgbClr val="325F75"/>
          </a:solidFill>
          <a:ln w="12700">
            <a:solidFill>
              <a:srgbClr val="325F75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74736" y="284378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03920" y="2752344"/>
            <a:ext cx="24048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Festival hero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513064" y="3044952"/>
            <a:ext cx="240487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Mandarin oranges, dates, murukku, candy cane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4343400" y="397764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89704" y="4142232"/>
            <a:ext cx="347472" cy="347472"/>
          </a:xfrm>
          <a:prstGeom prst="ellipse">
            <a:avLst/>
          </a:prstGeom>
          <a:solidFill>
            <a:srgbClr val="6B3B57"/>
          </a:solidFill>
          <a:ln w="12700">
            <a:solidFill>
              <a:srgbClr val="6B3B57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08576" y="421538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937760" y="4123944"/>
            <a:ext cx="24048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Personalisation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46904" y="4416552"/>
            <a:ext cx="240487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Name card, message, corporate logo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7909560" y="3977640"/>
            <a:ext cx="3154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55864" y="4142232"/>
            <a:ext cx="347472" cy="347472"/>
          </a:xfrm>
          <a:prstGeom prst="ellipse">
            <a:avLst/>
          </a:prstGeom>
          <a:solidFill>
            <a:srgbClr val="8D6230"/>
          </a:solidFill>
          <a:ln w="12700">
            <a:solidFill>
              <a:srgbClr val="8D6230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74736" y="421538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03920" y="4123944"/>
            <a:ext cx="240487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Delivery layer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513064" y="4416552"/>
            <a:ext cx="2404872" cy="393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Carton, bubble wrap, route label, proof of delivery</a:t>
            </a:r>
            <a:endParaRPr lang="en-US" sz="860" dirty="0"/>
          </a:p>
        </p:txBody>
      </p:sp>
      <p:sp>
        <p:nvSpPr>
          <p:cNvPr id="35" name="Text 32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Core Campaigns I: CNY &amp; Hari Raya Aidilfitri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The two biggest early-year campaigns need the longest preparation and strongest pre-order system.</a:t>
            </a:r>
            <a:endParaRPr lang="en-US" sz="950" dirty="0"/>
          </a:p>
        </p:txBody>
      </p:sp>
      <p:pic>
        <p:nvPicPr>
          <p:cNvPr id="4" name="Image 0" descr="/mnt/data/a_clean_well_lit_product_still_life_scene_on_a_ta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17904"/>
            <a:ext cx="3657600" cy="2057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17720" y="1143000"/>
            <a:ext cx="3154680" cy="48920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0" y="1143000"/>
            <a:ext cx="3154680" cy="48920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92040" y="1417320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B5453C">
              <a:alpha val="92000"/>
            </a:srgbClr>
          </a:solidFill>
          <a:ln w="12700">
            <a:solidFill>
              <a:srgbClr val="B5453C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56048" y="1472184"/>
            <a:ext cx="1380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Chinese New Year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8275320" y="1417320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496E5B">
              <a:alpha val="92000"/>
            </a:srgbClr>
          </a:solidFill>
          <a:ln w="12700">
            <a:solidFill>
              <a:srgbClr val="496E5B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9328" y="1472184"/>
            <a:ext cx="1563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Hari Raya Aidilfitri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892040" y="1874520"/>
            <a:ext cx="2468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Best items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92040" y="2212848"/>
            <a:ext cx="2423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6259"/>
                </a:solidFill>
              </a:rPr>
              <a:t>Pineapple tarts, love letters, peanut cookies, premium tea, nuts, dried fruit, chocolates, mandarin oranges, red packets, abalone / bird’s nest for premium sets.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75320" y="1874520"/>
            <a:ext cx="2468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Best items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75320" y="2212848"/>
            <a:ext cx="2423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6259"/>
                </a:solidFill>
              </a:rPr>
              <a:t>Kuih raya, premium dates, nuts, honey, tea / coffee, cordial, halal-friendly cookies, duit raya packets, fragrance or prayer item for premium sets.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892040" y="3694176"/>
            <a:ext cx="2286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5453C"/>
                </a:solidFill>
              </a:rPr>
              <a:t>Selling angle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92040" y="3968496"/>
            <a:ext cx="2331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E6259"/>
                </a:solidFill>
              </a:rPr>
              <a:t>Prosperity, reunion, wealth, family visit, corporate appreciation.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8275320" y="3694176"/>
            <a:ext cx="22860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96E5B"/>
                </a:solidFill>
              </a:rPr>
              <a:t>Selling angle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75320" y="3968496"/>
            <a:ext cx="2331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E6259"/>
                </a:solidFill>
              </a:rPr>
              <a:t>Berkat, balik kampung, open house, sharing, halal-friendly gifting.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4892040" y="4983480"/>
            <a:ext cx="23774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8A44"/>
                </a:solidFill>
              </a:rPr>
              <a:t>Prepare 10 weeks before; open orders 5–6 weeks before.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275320" y="4983480"/>
            <a:ext cx="23774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B88A44"/>
                </a:solidFill>
              </a:rPr>
              <a:t>Prepare 10 weeks before; close custom orders 7–10 days before.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Core Campaigns II: Deepavali &amp; Mid-Autumn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Strong cultural gifting seasons with attractive premium-box potential.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1554480" cy="320040"/>
          </a:xfrm>
          <a:prstGeom prst="rect">
            <a:avLst/>
          </a:prstGeom>
          <a:solidFill>
            <a:srgbClr val="6B3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16736"/>
            <a:ext cx="14813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FFFFF"/>
                </a:solidFill>
              </a:rPr>
              <a:t>Campaign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2212848" y="1234440"/>
            <a:ext cx="1097280" cy="320040"/>
          </a:xfrm>
          <a:prstGeom prst="rect">
            <a:avLst/>
          </a:prstGeom>
          <a:solidFill>
            <a:srgbClr val="6B3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9424" y="1316736"/>
            <a:ext cx="10241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FFFFF"/>
                </a:solidFill>
              </a:rPr>
              <a:t>Key date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3310128" y="1234440"/>
            <a:ext cx="4709160" cy="320040"/>
          </a:xfrm>
          <a:prstGeom prst="rect">
            <a:avLst/>
          </a:prstGeom>
          <a:solidFill>
            <a:srgbClr val="6B3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46704" y="1316736"/>
            <a:ext cx="4636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Recommended items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8019288" y="1234440"/>
            <a:ext cx="2926080" cy="320040"/>
          </a:xfrm>
          <a:prstGeom prst="rect">
            <a:avLst/>
          </a:prstGeom>
          <a:solidFill>
            <a:srgbClr val="6B3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55864" y="1316736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Selling angle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58368" y="1554480"/>
            <a:ext cx="1554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627632"/>
            <a:ext cx="14813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Deepavali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2212848" y="1554480"/>
            <a:ext cx="1097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9424" y="1627632"/>
            <a:ext cx="10241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8 Nov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3310128" y="1554480"/>
            <a:ext cx="47091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46704" y="1627632"/>
            <a:ext cx="4636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Murukku, Indian sweets, cookies, candles, flowers, decorative items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8019288" y="1554480"/>
            <a:ext cx="29260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55864" y="1627632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Light, celebration, sweets, family sharing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658368" y="2377440"/>
            <a:ext cx="1554480" cy="822960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450592"/>
            <a:ext cx="14813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Mid-Autumn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212848" y="2377440"/>
            <a:ext cx="1097280" cy="822960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9424" y="2450592"/>
            <a:ext cx="10241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25 Sep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3310128" y="2377440"/>
            <a:ext cx="4709160" cy="822960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2450592"/>
            <a:ext cx="46360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Mooncakes, tea sets, lanterns, premium gift boxes, bird’s nest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8019288" y="2377440"/>
            <a:ext cx="2926080" cy="822960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55864" y="2450592"/>
            <a:ext cx="2852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Reunion, appreciation, premium corporate gifting</a:t>
            </a:r>
            <a:endParaRPr lang="en-US" sz="680" dirty="0"/>
          </a:p>
        </p:txBody>
      </p:sp>
      <p:pic>
        <p:nvPicPr>
          <p:cNvPr id="28" name="Image 0" descr="/mnt/data/a_clean_flat_lay_tabletop_scene_photographed_from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29000"/>
            <a:ext cx="5074920" cy="224028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6035040" y="342900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2F2B27"/>
          </a:solidFill>
          <a:ln w="12700">
            <a:solidFill>
              <a:srgbClr val="2F2B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55080" y="3749040"/>
            <a:ext cx="45720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88A44"/>
                </a:solidFill>
              </a:rPr>
              <a:t>Operations note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355080" y="4160520"/>
            <a:ext cx="44348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For Mid-Autumn, avoid holding too much finished stock because mooncakes are seasonal and shelf-life sensitive. For Deepavali, sweets and snacks can be pre-packed earlier but require careful freshness control.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Mini Campaigns &amp; Event-Based Sales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Use small collections and faster delivery for emotional gifting and national events.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2011680" cy="320040"/>
          </a:xfrm>
          <a:prstGeom prst="rect">
            <a:avLst/>
          </a:prstGeom>
          <a:solidFill>
            <a:srgbClr val="325F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16736"/>
            <a:ext cx="19385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FFFFF"/>
                </a:solidFill>
              </a:rPr>
              <a:t>Campaign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2670048" y="1234440"/>
            <a:ext cx="5212080" cy="320040"/>
          </a:xfrm>
          <a:prstGeom prst="rect">
            <a:avLst/>
          </a:prstGeom>
          <a:solidFill>
            <a:srgbClr val="325F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06624" y="1316736"/>
            <a:ext cx="5138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FFFFF"/>
                </a:solidFill>
              </a:rPr>
              <a:t>Recommended items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7882128" y="1234440"/>
            <a:ext cx="3108960" cy="320040"/>
          </a:xfrm>
          <a:prstGeom prst="rect">
            <a:avLst/>
          </a:prstGeom>
          <a:solidFill>
            <a:srgbClr val="325F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18704" y="1316736"/>
            <a:ext cx="30358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Commercial angle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658368" y="1554480"/>
            <a:ext cx="2011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1627632"/>
            <a:ext cx="19385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Valentine’s Day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670048" y="1554480"/>
            <a:ext cx="52120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1627632"/>
            <a:ext cx="5138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Flowers, chocolate, cake, teddy bear, perfume mini bottle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7882128" y="1554480"/>
            <a:ext cx="3108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18704" y="1627632"/>
            <a:ext cx="30358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Same-day delivery surcharge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58368" y="2139696"/>
            <a:ext cx="2011680" cy="585216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212848"/>
            <a:ext cx="19385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Mother’s Day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670048" y="2139696"/>
            <a:ext cx="5212080" cy="585216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06624" y="2212848"/>
            <a:ext cx="5138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Bouquet, cake, wellness tea, skincare, bird’s nest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882128" y="2139696"/>
            <a:ext cx="3108960" cy="585216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18704" y="2212848"/>
            <a:ext cx="30358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Personal message card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658368" y="2724912"/>
            <a:ext cx="20116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798064"/>
            <a:ext cx="19385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Father’s Day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2670048" y="2724912"/>
            <a:ext cx="521208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06624" y="2798064"/>
            <a:ext cx="5138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Coffee, mug, wallet, belt, grooming set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7882128" y="2724912"/>
            <a:ext cx="3108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18704" y="2798064"/>
            <a:ext cx="30358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Practical gift bundle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658368" y="3310128"/>
            <a:ext cx="2011680" cy="585216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3383280"/>
            <a:ext cx="19385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Merdeka / Malaysia Day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2670048" y="3310128"/>
            <a:ext cx="5212080" cy="585216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06624" y="3383280"/>
            <a:ext cx="5138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Local snacks, flags, batik-style packaging, tumbler, notebook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882128" y="3310128"/>
            <a:ext cx="3108960" cy="585216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18704" y="3383280"/>
            <a:ext cx="30358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Corporate event pack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960120" y="4681728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4928616"/>
            <a:ext cx="93268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1B1B"/>
                </a:solidFill>
              </a:rPr>
              <a:t>Recommendation: keep mini campaigns inventory-light. Offer limited ready-made sets, delivery add-ons and personalised cards rather than large custom hampers.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Christmas &amp; Year-End Corporate Gifting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The strongest year-end opportunity combines festive hampers and corporate appreciation gifts.</a:t>
            </a:r>
            <a:endParaRPr lang="en-US" sz="950" dirty="0"/>
          </a:p>
        </p:txBody>
      </p:sp>
      <p:pic>
        <p:nvPicPr>
          <p:cNvPr id="4" name="Image 0" descr="/mnt/data/a_warm_softly_lit_interior_corporate_office_or_ho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72768"/>
            <a:ext cx="5166360" cy="2907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08192" y="132588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54496" y="1490472"/>
            <a:ext cx="347472" cy="347472"/>
          </a:xfrm>
          <a:prstGeom prst="ellipse">
            <a:avLst/>
          </a:prstGeom>
          <a:solidFill>
            <a:srgbClr val="B5453C"/>
          </a:solidFill>
          <a:ln w="12700">
            <a:solidFill>
              <a:srgbClr val="B5453C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73368" y="156362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02552" y="1472184"/>
            <a:ext cx="43251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Christmas collection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11696" y="1764792"/>
            <a:ext cx="432511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Cookies, chocolates, coffee, tea, nuts, cake, festive card, alcohol-free hamper options for wider company acceptance.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6108192" y="278892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54496" y="2953512"/>
            <a:ext cx="347472" cy="347472"/>
          </a:xfrm>
          <a:prstGeom prst="ellipse">
            <a:avLst/>
          </a:prstGeom>
          <a:solidFill>
            <a:srgbClr val="B88A44"/>
          </a:solidFill>
          <a:ln w="12700">
            <a:solidFill>
              <a:srgbClr val="B88A4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73368" y="302666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702552" y="2935224"/>
            <a:ext cx="43251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Corporate appreciation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11696" y="3227832"/>
            <a:ext cx="432511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Notebook, pen, tumbler, organiser, premium coffee, cookies, branded card and logo sticker.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6108192" y="4251960"/>
            <a:ext cx="50749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54496" y="4416552"/>
            <a:ext cx="347472" cy="347472"/>
          </a:xfrm>
          <a:prstGeom prst="ellipse">
            <a:avLst/>
          </a:prstGeom>
          <a:solidFill>
            <a:srgbClr val="496E5B"/>
          </a:solidFill>
          <a:ln w="12700">
            <a:solidFill>
              <a:srgbClr val="496E5B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448970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02552" y="4398264"/>
            <a:ext cx="432511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Bulk order mechanics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11696" y="4690872"/>
            <a:ext cx="4325112" cy="576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Set minimum order quantities at 10, 20, 50 or 100 sets. Offer bulk discount tiers and one-location or multiple-address delivery.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Recommended Website / Catalogue Structure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Make browsing simple: festival, customer type, budget, delivery option.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51790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496E5B">
              <a:alpha val="92000"/>
            </a:srgbClr>
          </a:solidFill>
          <a:ln w="12700">
            <a:solidFill>
              <a:srgbClr val="496E5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572768"/>
            <a:ext cx="1289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Festival Gift Boxes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96112" y="2011680"/>
            <a:ext cx="2697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E6259"/>
                </a:solidFill>
              </a:rPr>
              <a:t>CNY, Raya, Deepavali, Christmas, Mid-Autumn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434840" y="129844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54296" y="151790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B88A44">
              <a:alpha val="92000"/>
            </a:srgbClr>
          </a:solidFill>
          <a:ln w="12700">
            <a:solidFill>
              <a:srgbClr val="B88A4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1572768"/>
            <a:ext cx="1289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Corporate Gifts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90872" y="2011680"/>
            <a:ext cx="2697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E6259"/>
                </a:solidFill>
              </a:rPr>
              <a:t>Bulk hampers, branded gift boxes, staff appreciation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229600" y="129844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9056" y="151790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B5453C">
              <a:alpha val="92000"/>
            </a:srgbClr>
          </a:solidFill>
          <a:ln w="12700">
            <a:solidFill>
              <a:srgbClr val="B5453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3064" y="1572768"/>
            <a:ext cx="1289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Personal Gifts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485632" y="2011680"/>
            <a:ext cx="2697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E6259"/>
                </a:solidFill>
              </a:rPr>
              <a:t>Valentine’s, Mother’s Day, Father’s Day, birthdays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39242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325F75">
              <a:alpha val="92000"/>
            </a:srgbClr>
          </a:solidFill>
          <a:ln w="12700">
            <a:solidFill>
              <a:srgbClr val="325F7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3447288"/>
            <a:ext cx="1289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Food Hampers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96112" y="3886200"/>
            <a:ext cx="2697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E6259"/>
                </a:solidFill>
              </a:rPr>
              <a:t>Cookies, snacks, tea, coffee, chocolate, nuts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4434840" y="317296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4296" y="339242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6B3B57">
              <a:alpha val="92000"/>
            </a:srgbClr>
          </a:solidFill>
          <a:ln w="12700">
            <a:solidFill>
              <a:srgbClr val="6B3B5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3447288"/>
            <a:ext cx="1289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Custom Gift Sets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90872" y="3886200"/>
            <a:ext cx="2697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E6259"/>
                </a:solidFill>
              </a:rPr>
              <a:t>Choose box, items, message card, ribbon colour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8229600" y="3172968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49056" y="339242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8D6230">
              <a:alpha val="92000"/>
            </a:srgbClr>
          </a:solidFill>
          <a:ln w="12700">
            <a:solidFill>
              <a:srgbClr val="8D623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13064" y="3447288"/>
            <a:ext cx="1289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Ready Stock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485632" y="3886200"/>
            <a:ext cx="26974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E6259"/>
                </a:solidFill>
              </a:rPr>
              <a:t>Last-minute gifts with fast delivery only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Order &amp; Delivery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This workflow reduces mistakes and helps scale from personal orders to corporate batches.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5296" y="2084832"/>
            <a:ext cx="2560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96E5B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2523744"/>
            <a:ext cx="12252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1B1B"/>
                </a:solidFill>
              </a:rPr>
              <a:t>Customer selects set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 rot="5400000">
            <a:off x="2240280" y="2267712"/>
            <a:ext cx="164592" cy="164592"/>
          </a:xfrm>
          <a:prstGeom prst="triangle">
            <a:avLst/>
          </a:prstGeom>
          <a:solidFill>
            <a:srgbClr val="B88A44"/>
          </a:solidFill>
          <a:ln w="12700">
            <a:solidFill>
              <a:srgbClr val="B88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92024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9816" y="2084832"/>
            <a:ext cx="2560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88A44"/>
                </a:solidFill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42616" y="2523744"/>
            <a:ext cx="12252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1B1B"/>
                </a:solidFill>
              </a:rPr>
              <a:t>Collect details &amp; message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 rot="5400000">
            <a:off x="4114800" y="2267712"/>
            <a:ext cx="164592" cy="164592"/>
          </a:xfrm>
          <a:prstGeom prst="triangle">
            <a:avLst/>
          </a:prstGeom>
          <a:solidFill>
            <a:srgbClr val="B88A44"/>
          </a:solidFill>
          <a:ln w="12700">
            <a:solidFill>
              <a:srgbClr val="B88A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92024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4336" y="2084832"/>
            <a:ext cx="2560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5453C"/>
                </a:solidFill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17136" y="2523744"/>
            <a:ext cx="12252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1B1B"/>
                </a:solidFill>
              </a:rPr>
              <a:t>Confirm payment / deposit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 rot="5400000">
            <a:off x="5989320" y="2267712"/>
            <a:ext cx="164592" cy="164592"/>
          </a:xfrm>
          <a:prstGeom prst="triangle">
            <a:avLst/>
          </a:prstGeom>
          <a:solidFill>
            <a:srgbClr val="B88A44"/>
          </a:solidFill>
          <a:ln w="12700">
            <a:solidFill>
              <a:srgbClr val="B88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192024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084832"/>
            <a:ext cx="2560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25F75"/>
                </a:solidFill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91656" y="2523744"/>
            <a:ext cx="12252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1B1B"/>
                </a:solidFill>
              </a:rPr>
              <a:t>Pack &amp; label by route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 rot="5400000">
            <a:off x="7863840" y="2267712"/>
            <a:ext cx="164592" cy="164592"/>
          </a:xfrm>
          <a:prstGeom prst="triangle">
            <a:avLst/>
          </a:prstGeom>
          <a:solidFill>
            <a:srgbClr val="B88A44"/>
          </a:solidFill>
          <a:ln w="12700">
            <a:solidFill>
              <a:srgbClr val="B88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92024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23376" y="2084832"/>
            <a:ext cx="2560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B3B57"/>
                </a:solidFill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66176" y="2523744"/>
            <a:ext cx="12252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1B1B"/>
                </a:solidFill>
              </a:rPr>
              <a:t>Deliver &amp; send proof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 rot="5400000">
            <a:off x="9738360" y="2267712"/>
            <a:ext cx="164592" cy="164592"/>
          </a:xfrm>
          <a:prstGeom prst="triangle">
            <a:avLst/>
          </a:prstGeom>
          <a:solidFill>
            <a:srgbClr val="B88A44"/>
          </a:solidFill>
          <a:ln w="12700">
            <a:solidFill>
              <a:srgbClr val="B88A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12680" y="1920240"/>
            <a:ext cx="14813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97896" y="2084832"/>
            <a:ext cx="25603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8D6230"/>
                </a:solidFill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140696" y="2523744"/>
            <a:ext cx="1225296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B1B1B"/>
                </a:solidFill>
              </a:rPr>
              <a:t>Feedback / review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49808" y="3886200"/>
            <a:ext cx="10698480" cy="1097280"/>
          </a:xfrm>
          <a:prstGeom prst="roundRect">
            <a:avLst>
              <a:gd name="adj" fmla="val 6667"/>
            </a:avLst>
          </a:prstGeom>
          <a:solidFill>
            <a:srgbClr val="2F2B27"/>
          </a:solidFill>
          <a:ln w="12700">
            <a:solidFill>
              <a:srgbClr val="2F2B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4306824"/>
            <a:ext cx="10149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Recommended payment terms: 50% deposit for custom / corporate orders and full payment before delivery. Keep order cut-off at 7–10 days before major festivals.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Inventory &amp; Operations Recommendations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Control stock by shelf life, demand and packaging flexibility.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43584"/>
            <a:ext cx="1828800" cy="320040"/>
          </a:xfrm>
          <a:prstGeom prst="rect">
            <a:avLst/>
          </a:prstGeom>
          <a:solidFill>
            <a:srgbClr val="496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25880"/>
            <a:ext cx="17556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FFFFF"/>
                </a:solidFill>
              </a:rPr>
              <a:t>Category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2487168" y="1243584"/>
            <a:ext cx="4480560" cy="320040"/>
          </a:xfrm>
          <a:prstGeom prst="rect">
            <a:avLst/>
          </a:prstGeom>
          <a:solidFill>
            <a:srgbClr val="496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23744" y="1325880"/>
            <a:ext cx="44074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FFFFF"/>
                </a:solidFill>
              </a:rPr>
              <a:t>Examples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967728" y="1243584"/>
            <a:ext cx="4069080" cy="320040"/>
          </a:xfrm>
          <a:prstGeom prst="rect">
            <a:avLst/>
          </a:prstGeom>
          <a:solidFill>
            <a:srgbClr val="496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04304" y="1325880"/>
            <a:ext cx="3995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FFFFFF"/>
                </a:solidFill>
              </a:rPr>
              <a:t>Recommendation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658368" y="1563624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1636776"/>
            <a:ext cx="17556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Long shelf-life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2487168" y="1563624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636776"/>
            <a:ext cx="44074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Tea, coffee, nuts, dried fruits, boxes, ribbons, cards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967728" y="1563624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04304" y="1636776"/>
            <a:ext cx="3995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Buy earlier and reuse across festivals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58368" y="2221992"/>
            <a:ext cx="1828800" cy="658368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295144"/>
            <a:ext cx="17556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Medium shelf-life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2487168" y="2221992"/>
            <a:ext cx="4480560" cy="658368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3744" y="2295144"/>
            <a:ext cx="44074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Cookies, chocolates, murukku, snacks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6967728" y="2221992"/>
            <a:ext cx="4069080" cy="658368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4304" y="2295144"/>
            <a:ext cx="3995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Confirm freshness and pack close to delivery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658368" y="2880360"/>
            <a:ext cx="1828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953512"/>
            <a:ext cx="17556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Short shelf-life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2487168" y="2880360"/>
            <a:ext cx="4480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3744" y="2953512"/>
            <a:ext cx="44074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Cakes, flowers, mooncakes, some sweets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6967728" y="2880360"/>
            <a:ext cx="4069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4304" y="2953512"/>
            <a:ext cx="3995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Pre-order only or limited ready stock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658368" y="3538728"/>
            <a:ext cx="1828800" cy="658368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3611880"/>
            <a:ext cx="175564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B1B1B"/>
                </a:solidFill>
              </a:rPr>
              <a:t>Packaging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2487168" y="3538728"/>
            <a:ext cx="4480560" cy="658368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23744" y="3611880"/>
            <a:ext cx="440740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E6259"/>
                </a:solidFill>
              </a:rPr>
              <a:t>Plain premium boxes + seasonal sleeves / stickers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6967728" y="3538728"/>
            <a:ext cx="4069080" cy="658368"/>
          </a:xfrm>
          <a:prstGeom prst="rect">
            <a:avLst/>
          </a:prstGeom>
          <a:solidFill>
            <a:srgbClr val="FBF5EA"/>
          </a:solidFill>
          <a:ln w="12700">
            <a:solidFill>
              <a:srgbClr val="E2D5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04304" y="3611880"/>
            <a:ext cx="39959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ctr">
              <a:buNone/>
            </a:pPr>
            <a:r>
              <a:rPr lang="en-US" sz="680" dirty="0">
                <a:solidFill>
                  <a:srgbClr val="6E6259"/>
                </a:solidFill>
              </a:rPr>
              <a:t>Lower cost and faster campaign turnaround</a:t>
            </a:r>
            <a:endParaRPr lang="en-US" sz="680" dirty="0"/>
          </a:p>
        </p:txBody>
      </p:sp>
      <p:pic>
        <p:nvPicPr>
          <p:cNvPr id="34" name="Image 0" descr="/mnt/data/a_bright_cozy_indoor_workspace_packing_scene_over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09160"/>
            <a:ext cx="3291840" cy="12344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4251960" y="5102352"/>
            <a:ext cx="6492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1B1B"/>
                </a:solidFill>
              </a:rPr>
              <a:t>Operational KPI to track: order quantity, gross margin, fulfilment errors, late delivery rate, leftover stock value and repeat customer rate.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B1B1B"/>
                </a:solidFill>
              </a:rPr>
              <a:t>Launch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E6259"/>
                </a:solidFill>
              </a:rPr>
              <a:t>Start with reusable products and the five strongest annual campaigns.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914400" y="1234440"/>
            <a:ext cx="10287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" y="1399032"/>
            <a:ext cx="347472" cy="347472"/>
          </a:xfrm>
          <a:prstGeom prst="ellipse">
            <a:avLst/>
          </a:prstGeom>
          <a:solidFill>
            <a:srgbClr val="496E5B"/>
          </a:solidFill>
          <a:ln w="12700">
            <a:solidFill>
              <a:srgbClr val="496E5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9576" y="1472184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1380744"/>
            <a:ext cx="9537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Build base catalogue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17904" y="1673352"/>
            <a:ext cx="95371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10–15 reusable items, 3 price tiers, supplier list, packaging kit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914400" y="2350008"/>
            <a:ext cx="10287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2514600"/>
            <a:ext cx="347472" cy="347472"/>
          </a:xfrm>
          <a:prstGeom prst="ellipse">
            <a:avLst/>
          </a:prstGeom>
          <a:solidFill>
            <a:srgbClr val="B88A44"/>
          </a:solidFill>
          <a:ln w="12700">
            <a:solidFill>
              <a:srgbClr val="B88A4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9576" y="2587752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08760" y="2496312"/>
            <a:ext cx="9537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Launch first campaign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17904" y="2788920"/>
            <a:ext cx="95371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Open pre-orders 5 weeks before; validate pricing and delivery workflow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914400" y="3465576"/>
            <a:ext cx="10287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3630168"/>
            <a:ext cx="347472" cy="347472"/>
          </a:xfrm>
          <a:prstGeom prst="ellipse">
            <a:avLst/>
          </a:prstGeom>
          <a:solidFill>
            <a:srgbClr val="B5453C"/>
          </a:solidFill>
          <a:ln w="12700">
            <a:solidFill>
              <a:srgbClr val="B5453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9576" y="3703320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3611880"/>
            <a:ext cx="9537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Corporate sales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17904" y="3904488"/>
            <a:ext cx="95371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Create bulk order form, quote template, logo sticker option, delivery matrix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914400" y="4581144"/>
            <a:ext cx="10287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FE3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0704" y="4745736"/>
            <a:ext cx="347472" cy="347472"/>
          </a:xfrm>
          <a:prstGeom prst="ellipse">
            <a:avLst/>
          </a:prstGeom>
          <a:solidFill>
            <a:srgbClr val="325F75"/>
          </a:solidFill>
          <a:ln w="12700">
            <a:solidFill>
              <a:srgbClr val="325F7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9576" y="4818888"/>
            <a:ext cx="109728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4727448"/>
            <a:ext cx="95371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B1B"/>
                </a:solidFill>
              </a:rPr>
              <a:t>Repeat by season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17904" y="5020056"/>
            <a:ext cx="953719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860" dirty="0">
                <a:solidFill>
                  <a:srgbClr val="6E6259"/>
                </a:solidFill>
              </a:rPr>
              <a:t>Reuse structure for Raya, Mid-Autumn, Deepavali and Christmas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502920" y="6519672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259"/>
                </a:solidFill>
              </a:rPr>
              <a:t>Malaysia Festive Gift Sales Pipeline 2026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B88A44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2B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well_lit_product_still_life_scene_on_a_ta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005840"/>
            <a:ext cx="5166360" cy="29077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58368"/>
            <a:ext cx="1325880" cy="256032"/>
          </a:xfrm>
          <a:prstGeom prst="roundRect">
            <a:avLst>
              <a:gd name="adj" fmla="val 21429"/>
            </a:avLst>
          </a:prstGeom>
          <a:solidFill>
            <a:srgbClr val="B88A44">
              <a:alpha val="92000"/>
            </a:srgbClr>
          </a:solidFill>
          <a:ln w="12700">
            <a:solidFill>
              <a:srgbClr val="B88A4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04088" y="713232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SOURCE NOTE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1280160"/>
            <a:ext cx="49834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</a:rPr>
              <a:t>Assumptions &amp; Source Notes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5800" y="2103120"/>
            <a:ext cx="49834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E9DED0"/>
                </a:solidFill>
              </a:rPr>
              <a:t>Dates are for 2026 planning. Islamic festival dates may shift by one day subject to official moon sighting. Mid-Autumn is a cultural sales season rather than a Malaysia national public holiday.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3246120"/>
            <a:ext cx="51206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CFC4B6"/>
                </a:solidFill>
              </a:rPr>
              <a:t>Sources used for date checks: PublicHolidays.com.my 2026 Malaysia public holidays; QuickHR 2026 Malaysia public holiday guide; PublicHolidays.sg / ChinaHighlights for Mid-Autumn 2026 date.</a:t>
            </a:r>
            <a:endParaRPr lang="en-US" sz="920" dirty="0"/>
          </a:p>
        </p:txBody>
      </p:sp>
      <p:sp>
        <p:nvSpPr>
          <p:cNvPr id="8" name="Text 5"/>
          <p:cNvSpPr/>
          <p:nvPr/>
        </p:nvSpPr>
        <p:spPr>
          <a:xfrm>
            <a:off x="685800" y="4754880"/>
            <a:ext cx="51663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88A44"/>
                </a:solidFill>
              </a:rPr>
              <a:t>Recommended next action: create 5 sample gift sets first — CNY Prosperity, Raya Berkat, Mooncake Premium, Deepavali Lights and Christmas Corporate.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</Words>
  <Application>Microsoft Office PowerPoint</Application>
  <PresentationFormat>Widescreen</PresentationFormat>
  <Paragraphs>306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Prepared for Junyx Tan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Malaysia Festive Gift Sales Pipeline 2026</dc:title>
  <dc:subject>Malaysia Festival Gift Business Sales Pipeline 2026</dc:subject>
  <dc:creator>OpenAI</dc:creator>
  <cp:lastModifiedBy>Junyx Tan</cp:lastModifiedBy>
  <cp:revision>2</cp:revision>
  <dcterms:created xsi:type="dcterms:W3CDTF">2026-06-10T01:53:51Z</dcterms:created>
  <dcterms:modified xsi:type="dcterms:W3CDTF">2026-06-10T01:57:32Z</dcterms:modified>
</cp:coreProperties>
</file>